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608990" cy="822960"/>
          </a:xfrm>
          <a:prstGeom prst="roundRect">
            <a:avLst>
              <a:gd name="adj" fmla="val 16216"/>
            </a:avLst>
          </a:prstGeom>
          <a:ln w="8001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9038" y="978408"/>
            <a:ext cx="365394" cy="0"/>
          </a:xfrm>
          <a:prstGeom prst="line">
            <a:avLst/>
          </a:prstGeom>
          <a:noFill/>
          <a:ln w="5715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9038" y="1110082"/>
            <a:ext cx="365394" cy="0"/>
          </a:xfrm>
          <a:prstGeom prst="line">
            <a:avLst/>
          </a:prstGeom>
          <a:noFill/>
          <a:ln w="571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9038" y="1241755"/>
            <a:ext cx="365394" cy="0"/>
          </a:xfrm>
          <a:prstGeom prst="line">
            <a:avLst/>
          </a:prstGeom>
          <a:noFill/>
          <a:ln w="5715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038" y="1373429"/>
            <a:ext cx="231416" cy="0"/>
          </a:xfrm>
          <a:prstGeom prst="line">
            <a:avLst/>
          </a:prstGeom>
          <a:noFill/>
          <a:ln w="8001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Translator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TIA / WinCC HMI texts in bulk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vanniekerk.luan@outlook.com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replaces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way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365760" cy="36576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1854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project texts to Excel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TIA / WinCC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319125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every cell by hand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paste into an online tool, per language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251960"/>
            <a:ext cx="365760" cy="36576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419709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Re-import into the project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placeholders survived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13716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HMI Translator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2940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218541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same Excel export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detected, or mapped by hand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2940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319125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with DeepL, then review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protected, over-length flagged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9400" y="4251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419709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validated copy and re-import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preserved; re-open checks itself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edits are remembered — re-runs never overwrite them and never re-charge for text already translated.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start: a DeepL API key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doesn't translate on its own — it drives DeepL. You need a DeepL API key before any translation will run.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Free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characters / month, no cost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ends in “:fx” — free endpoint auto-selected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for many HMI projects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21031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292608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per character, no monthly cap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glossaries (terminology)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once you standardise terms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deepl.com under “DeepL API” (separate from the Translator subscription). Text is sent to DeepL's cloud.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run: activate your copy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time you open HMI Translator on a computer, you'll be asked to activate it. It's quick, and you only do it once per PC.</a:t>
            </a:r>
            <a:endParaRPr lang="en-US" sz="1500" dirty="0"/>
          </a:p>
        </p:txBody>
      </p:sp>
      <p:pic>
        <p:nvPicPr>
          <p:cNvPr id="4" name="Image 0" descr="/home/claude/assets/activ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03504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74520"/>
            <a:ext cx="6035040" cy="43434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20116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Copy the Machine ID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the activation screen.
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Request a key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“Request key…” to email the Machine ID to Luan.
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Paste the key you receive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click Activate. The app opens and remembers it next time.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0" y="52120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tied to that computer. A new PC or a Windows reinstall needs a fresh key — just request one.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window</a:t>
            </a:r>
            <a:endParaRPr lang="en-US" sz="3200" dirty="0"/>
          </a:p>
        </p:txBody>
      </p:sp>
      <p:pic>
        <p:nvPicPr>
          <p:cNvPr id="3" name="Image 0" descr="/home/claude/assets/main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680960" cy="50657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34440"/>
            <a:ext cx="7680960" cy="5065776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0392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strip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export; pick sheet, source, fill mode. Columns… maps columns by hand.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03920" y="2331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languages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languages to fill. The checkbox fills an empty source from another language.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3291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find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 big export to empty, over-length or matching rows while reviewing.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4251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grid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by origin; edit in place; red = over length.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bar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and “validated OK” after a good save.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API keys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Settings (top-right).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DeepL key and click Test key.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set a Glossary ID and default length budget.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“Shorten to fit”, add a Claude API key + model (optional).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keys are stored encrypted for your Windows user.</a:t>
            </a:r>
            <a:endParaRPr lang="en-US" sz="1500" dirty="0"/>
          </a:p>
        </p:txBody>
      </p:sp>
      <p:pic>
        <p:nvPicPr>
          <p:cNvPr id="6" name="Image 0" descr="/home/claude/asset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402336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1371600"/>
            <a:ext cx="4023360" cy="489204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export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project texts to .xlsx from TIA / WinCC.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Open export… and choose the file.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row and language columns are detected automatically.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sheet if there are several.</a:t>
            </a:r>
            <a:endParaRPr lang="en-US" sz="1500" dirty="0"/>
          </a:p>
        </p:txBody>
      </p:sp>
      <p:pic>
        <p:nvPicPr>
          <p:cNvPr id="6" name="Image 0" descr="/home/claude/assets/contr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011680"/>
            <a:ext cx="5394960" cy="713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2011680"/>
            <a:ext cx="5394960" cy="713232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strip after opening a file: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detection misses: map columns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480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Columns… any time.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which row is the header.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column a language (or “ignore”).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and header text help you choose.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— the pickers refresh from your mapping.</a:t>
            </a:r>
            <a:endParaRPr lang="en-US" sz="1500" dirty="0"/>
          </a:p>
        </p:txBody>
      </p:sp>
      <p:pic>
        <p:nvPicPr>
          <p:cNvPr id="6" name="Image 0" descr="/home/claude/assets/column_ma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417320"/>
            <a:ext cx="640080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1417320"/>
            <a:ext cx="6400800" cy="484632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targets and the fallback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09360" y="164592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Source (reference) language.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Target languages — empties are pre-ticked.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mode: start with Empty cells only.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tick it to fill a row from any filled language when its source is blank — e.g. generate English from an existing French.</a:t>
            </a:r>
            <a:endParaRPr lang="en-US" sz="1500" dirty="0"/>
          </a:p>
        </p:txBody>
      </p:sp>
      <p:pic>
        <p:nvPicPr>
          <p:cNvPr id="6" name="Image 0" descr="/home/claude/assets/left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178308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554480"/>
            <a:ext cx="1783080" cy="411480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and review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Translate. Stop cancels and keeps partial results.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are colour-coded by origin.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bold = over the length budget.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 place; right-click to Approve.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Show / Find to focus the review.</a:t>
            </a:r>
            <a:endParaRPr lang="en-US" sz="1500" dirty="0"/>
          </a:p>
        </p:txBody>
      </p:sp>
      <p:pic>
        <p:nvPicPr>
          <p:cNvPr id="6" name="Image 0" descr="/home/claude/assets/grid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5394960" cy="1609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600200"/>
            <a:ext cx="5394960" cy="1609344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3566160"/>
            <a:ext cx="237744" cy="182880"/>
          </a:xfrm>
          <a:prstGeom prst="rect">
            <a:avLst/>
          </a:prstGeom>
          <a:solidFill>
            <a:srgbClr val="D1F3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112" y="351129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138160" y="3566160"/>
            <a:ext cx="237744" cy="182880"/>
          </a:xfrm>
          <a:prstGeom prst="rect">
            <a:avLst/>
          </a:prstGeom>
          <a:solidFill>
            <a:srgbClr val="E6FA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39912" y="351129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966960" y="3566160"/>
            <a:ext cx="237744" cy="182880"/>
          </a:xfrm>
          <a:prstGeom prst="rect">
            <a:avLst/>
          </a:prstGeom>
          <a:solidFill>
            <a:srgbClr val="FDF0D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68712" y="3511296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3950208"/>
            <a:ext cx="237744" cy="182880"/>
          </a:xfrm>
          <a:prstGeom prst="rect">
            <a:avLst/>
          </a:prstGeom>
          <a:solidFill>
            <a:srgbClr val="E4F6E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11112" y="3895344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3950208"/>
            <a:ext cx="237744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39912" y="3895344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09360" y="43891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bold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over length budget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Glossary: consistent terminology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09360" y="164592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Settings → Glossary…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terms across languages, one per row.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 DeepL builds a glossary per language pair.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 then use your wording automatically — every project, every direction.</a:t>
            </a:r>
            <a:endParaRPr lang="en-US" sz="1500" dirty="0"/>
          </a:p>
        </p:txBody>
      </p:sp>
      <p:pic>
        <p:nvPicPr>
          <p:cNvPr id="6" name="Image 0" descr="/home/claude/assets/gloss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57784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5577840" cy="4846320"/>
          </a:xfrm>
          <a:prstGeom prst="rect">
            <a:avLst/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your approved translations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6583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file with your approved wording across languages? Import it once.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Reference library → Import…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translations are stored and used before DeepL — on every project.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“From library” in the grid, so you see what came from your set.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are checked on import; mismatched pairs are skipped.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920240"/>
            <a:ext cx="38404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your_approved_terms.xlsx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92640" y="2697480"/>
            <a:ext cx="0" cy="4114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92440" y="320040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library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before DeepL, every project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over-length text to fit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583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runs long and can overflow a field — flagged red.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red cell → Shorten to fit (Claude).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Shorten all over-length in one pass.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rewrites it within the budget using HMI abbreviations.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are preserved and verified; needs a Claude API key.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9202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</a:t>
            </a:r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 &gt; 14)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0956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Inbetriebnahme läuft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0" y="3108960"/>
            <a:ext cx="0" cy="45720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90956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0956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läuft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validate and re-import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Save… — writes a copy “…_translated.xlsx”.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target cells change; the rest is preserved byte-for-byte.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re-opens the file and validates it before trusting it — if anything is off, it warns you not to import.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“…_report.txt” audit is written next to the file.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copy back into TIA / WinCC.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63840" y="2011680"/>
            <a:ext cx="3749040" cy="2194560"/>
          </a:xfrm>
          <a:prstGeom prst="roundRect">
            <a:avLst>
              <a:gd name="adj" fmla="val 4167"/>
            </a:avLst>
          </a:prstGeom>
          <a:solidFill>
            <a:srgbClr val="E4F6E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Saved and validated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→ re-open → check every cell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it safe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@1%d@, %5.1f, {0}, &lt;tags&gt;, line breaks — shielded from translation and restored exactly.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55448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3592" y="182880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93592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budget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31089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Over-length flagged in red, never truncated. Shorten-to-fit helps trim to the field size.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55448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182880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9944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9944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library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9944" y="31089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edits are remembered, and an imported reference library applies approved wording before DeepL on every project.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97696" y="155448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6296" y="1828800"/>
            <a:ext cx="566928" cy="566928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9226296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26296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26296" y="310896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 is re-opened and checked cell-for-cell; a bad write can't reach TIA silently.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22960"/>
            <a:ext cx="541325" cy="731520"/>
          </a:xfrm>
          <a:prstGeom prst="roundRect">
            <a:avLst>
              <a:gd name="adj" fmla="val 16216"/>
            </a:avLst>
          </a:prstGeom>
          <a:ln w="7112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5505" y="1042416"/>
            <a:ext cx="324795" cy="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5505" y="1159459"/>
            <a:ext cx="324795" cy="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5505" y="1276502"/>
            <a:ext cx="324795" cy="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5505" y="1393546"/>
            <a:ext cx="205703" cy="0"/>
          </a:xfrm>
          <a:prstGeom prst="line">
            <a:avLst/>
          </a:prstGeom>
          <a:noFill/>
          <a:ln w="7112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→ translate → review → re-import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safe, terms consistent, edits remembered, every save validated.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3657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
</a:t>
            </a:r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vanniekerk.luan@outlook.com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2026-07-17T18:52:03Z</dcterms:created>
  <dcterms:modified xsi:type="dcterms:W3CDTF">2026-07-17T18:52:03Z</dcterms:modified>
</cp:coreProperties>
</file>